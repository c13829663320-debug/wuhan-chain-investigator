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f0abea0d194761" /><Relationship Type="http://schemas.openxmlformats.org/officeDocument/2006/relationships/extended-properties" Target="/docProps/app.xml" Id="R5130f068430f4fa7" /><Relationship Type="http://schemas.openxmlformats.org/officeDocument/2006/relationships/officeDocument" Target="/ppt/presentation.xml" Id="Rd48ac357157342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8c3e57d21a4e56"/>
  </p:sldMasterIdLst>
  <p:notesMasterIdLst>
    <p:notesMasterId xmlns:r="http://schemas.openxmlformats.org/officeDocument/2006/relationships" r:id="R7f518dbed2054641"/>
  </p:notesMasterIdLst>
  <p:sldIdLst>
    <p:sldId xmlns:r="http://schemas.openxmlformats.org/officeDocument/2006/relationships" id="256" r:id="Ra8c83790c3874932"/>
    <p:sldId xmlns:r="http://schemas.openxmlformats.org/officeDocument/2006/relationships" id="257" r:id="R51541305b25b417c"/>
    <p:sldId xmlns:r="http://schemas.openxmlformats.org/officeDocument/2006/relationships" id="258" r:id="R0621860721ec459b"/>
    <p:sldId xmlns:r="http://schemas.openxmlformats.org/officeDocument/2006/relationships" id="259" r:id="R25a1e9af2ee5488c"/>
    <p:sldId xmlns:r="http://schemas.openxmlformats.org/officeDocument/2006/relationships" id="260" r:id="Rab6fb154bc284b0d"/>
    <p:sldId xmlns:r="http://schemas.openxmlformats.org/officeDocument/2006/relationships" id="261" r:id="R5b87e6184a3444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c974582ae5423f" /><Relationship Type="http://schemas.openxmlformats.org/officeDocument/2006/relationships/slideMaster" Target="/ppt/slideMasters/slideMaster1.xml" Id="R678c3e57d21a4e56" /><Relationship Type="http://schemas.openxmlformats.org/officeDocument/2006/relationships/notesMaster" Target="/ppt/notesMasters/notesMaster1.xml" Id="R7f518dbed2054641" /><Relationship Type="http://schemas.openxmlformats.org/officeDocument/2006/relationships/presProps" Target="/ppt/presProps.xml" Id="R11788319734e414e" /><Relationship Type="http://schemas.openxmlformats.org/officeDocument/2006/relationships/tableStyles" Target="/ppt/tableStyles.xml" Id="Rdd85a83734e04fc8" /><Relationship Type="http://schemas.openxmlformats.org/officeDocument/2006/relationships/slide" Target="/ppt/slides/slide1.xml" Id="Ra8c83790c3874932" /><Relationship Type="http://schemas.openxmlformats.org/officeDocument/2006/relationships/slide" Target="/ppt/slides/slide2.xml" Id="R51541305b25b417c" /><Relationship Type="http://schemas.openxmlformats.org/officeDocument/2006/relationships/slide" Target="/ppt/slides/slide3.xml" Id="R0621860721ec459b" /><Relationship Type="http://schemas.openxmlformats.org/officeDocument/2006/relationships/slide" Target="/ppt/slides/slide4.xml" Id="R25a1e9af2ee5488c" /><Relationship Type="http://schemas.openxmlformats.org/officeDocument/2006/relationships/slide" Target="/ppt/slides/slide5.xml" Id="Rab6fb154bc284b0d" /><Relationship Type="http://schemas.openxmlformats.org/officeDocument/2006/relationships/slide" Target="/ppt/slides/slide6.xml" Id="R5b87e6184a3444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1a05f5af9a49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2ab22ba6a04e44" /><Relationship Type="http://schemas.openxmlformats.org/officeDocument/2006/relationships/notesMaster" Target="/ppt/notesMasters/notesMaster1.xml" Id="Rc4c0fe168b5e47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f1f75c44984480" /><Relationship Type="http://schemas.openxmlformats.org/officeDocument/2006/relationships/notesMaster" Target="/ppt/notesMasters/notesMaster1.xml" Id="R49cc31b6480a46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79e0c0c9cb4b42" /><Relationship Type="http://schemas.openxmlformats.org/officeDocument/2006/relationships/notesMaster" Target="/ppt/notesMasters/notesMaster1.xml" Id="R3c34c876adc942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1a26dc55e949a5" /><Relationship Type="http://schemas.openxmlformats.org/officeDocument/2006/relationships/notesMaster" Target="/ppt/notesMasters/notesMaster1.xml" Id="Rdcf7845ea6614f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346f90572248f4" /><Relationship Type="http://schemas.openxmlformats.org/officeDocument/2006/relationships/notesMaster" Target="/ppt/notesMasters/notesMaster1.xml" Id="R464025fdc3604b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7e114beae94045" /><Relationship Type="http://schemas.openxmlformats.org/officeDocument/2006/relationships/notesMaster" Target="/ppt/notesMasters/notesMaster1.xml" Id="Rf26baa507d1547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产品设计目标来自交易复核场景，未宣称客户访谈或业务提效测量。来源：server/chain.py、server/catalog.py。金额观察仅适用本次Ethereum样本，不构成投资建议或攻击认定。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量化公式来自server/catalog.py和server/chain.py当前实现。实际fee含执行gas和可能的blob fee。未计算内部调用、退款、代币转移或地址真实主体。指定历史已finalized交易允许查询，时效门槛作用于采集时的finalized检查点。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真实执行来自2026-10-06T10:51:30Z本地工具采集，finalized block 26132778 hash 0x34c2d097c0ed5cefd59d0d262854b6be4c1a4719773dc314f41ec7ff59690d91，6笔均成功、3条规则线索，收集3160ms。单笔指定交易0xfd111867ecbe9ecb0a5cb82e94d977788afd486e065d91a9004acef0db1dc393于10:51:33Z验证，fee 0.003915564468998077 ETH，0线索。此处保存的是工具执行摘要，不冒充已冻结的原始RPC快照。合成示例3笔1失败、尝试270与成功外层120来源demo_fixture，不是链上事实。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来源：server/catalog.py、public/resources/catalog.json及server/chain.py execution_trace。所有阶段确定性执行，按请求触发。Harness约束固定只读来源、网络与关联、时间分层、整数语义、证据重放和有界同源请求。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测试命令：python3 -m unittest discover -s tests -v，2026-10-06当前43项通过。验证不重新读链，不证明未签名快照真实性。无钱包、无链上写入，无公共合约部署。3条线索是规则触发数量，不是3次攻击或资金损失。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目标访问地址为 https://wutiantian.cn/eth-investigator/，实际上线状态以发布记录为准。开源发布范围以项目README为准。该背景复用public/media/titanium-wallpaper.png，为静态材质。PPT正文、表格和流程保持原生可编辑，无WebGL实时折射。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1794bb9fbd43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4b536418e14881" /><Relationship Type="http://schemas.openxmlformats.org/officeDocument/2006/relationships/slideLayout" Target="/ppt/slideLayouts/slideLayout1.xml" Id="R3b1e9783d94749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1e9783d94749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b6a98c5ff4ffe" /><Relationship Type="http://schemas.openxmlformats.org/officeDocument/2006/relationships/image" Target="/ppt/media/image.png" Id="R5e747fd85c0f4f7d" /><Relationship Type="http://schemas.openxmlformats.org/officeDocument/2006/relationships/notesSlide" Target="/ppt/notesSlides/notesSlide1.xml" Id="Rc57ff4bfa26d46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e4d9526b04404" /><Relationship Type="http://schemas.openxmlformats.org/officeDocument/2006/relationships/image" Target="/ppt/media/image2.png" Id="R393b5213f3f04c22" /><Relationship Type="http://schemas.openxmlformats.org/officeDocument/2006/relationships/notesSlide" Target="/ppt/notesSlides/notesSlide2.xml" Id="Rc50f0b51fb1344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e6b6a06d4e04" /><Relationship Type="http://schemas.openxmlformats.org/officeDocument/2006/relationships/image" Target="/ppt/media/image3.png" Id="Rea8ba3a3a1d04bea" /><Relationship Type="http://schemas.openxmlformats.org/officeDocument/2006/relationships/notesSlide" Target="/ppt/notesSlides/notesSlide3.xml" Id="R15fa4ef2aec84d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d42d0438c46e8" /><Relationship Type="http://schemas.openxmlformats.org/officeDocument/2006/relationships/image" Target="/ppt/media/image4.png" Id="R0fb23d20d84a4bf6" /><Relationship Type="http://schemas.openxmlformats.org/officeDocument/2006/relationships/notesSlide" Target="/ppt/notesSlides/notesSlide4.xml" Id="Rd838f4d16ee549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9141a83a544f3" /><Relationship Type="http://schemas.openxmlformats.org/officeDocument/2006/relationships/image" Target="/ppt/media/image5.png" Id="R0ec91bba6995439c" /><Relationship Type="http://schemas.openxmlformats.org/officeDocument/2006/relationships/notesSlide" Target="/ppt/notesSlides/notesSlide5.xml" Id="R7ce32af6367c4d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d94699ed34ef8" /><Relationship Type="http://schemas.openxmlformats.org/officeDocument/2006/relationships/image" Target="/ppt/media/image6.png" Id="Rc3b7a7fbed8b44c0" /><Relationship Type="http://schemas.openxmlformats.org/officeDocument/2006/relationships/notesSlide" Target="/ppt/notesSlides/notesSlide6.xml" Id="R3214413bd34d499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47fd85c0f4f7d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43A96-05A5-4233-AA2F-E0B65DA2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1201400" cy="6038850"/>
          </a:xfrm>
          <a:prstGeom xmlns:a="http://schemas.openxmlformats.org/drawingml/2006/main" prst="roundRect">
            <a:avLst>
              <a:gd name="adj" fmla="val 1262"/>
            </a:avLst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F7CF5-04A4-4836-8F30-1EC4D4D8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647700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rPr>
              <a:t>江城链察   01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02B05-06DA-4FFD-A09E-4C37248C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28675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8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江城链察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3D0C9-7268-46EE-AC73-8F3EBDEA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38325"/>
            <a:ext cx="10001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以太坊交易调查与量化证据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BF213-4543-4F7A-9443-DAF8757A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987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服务对象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3EC58-D9B6-42F5-A895-08160439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交易复核人员</a:t>
            </a:r>
          </a:p>
          <a:p xmlns:a="http://schemas.openxmlformats.org/drawingml/2006/main">
            <a:pPr>
              <a:defRPr sz="20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链上工具使用者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DA7DF1-8A2D-4946-AF14-D155055C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809875"/>
            <a:ext cx="585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原始交易还需要量化和解释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837B3-F803-4DEB-8A53-0ACC808F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29000"/>
            <a:ext cx="57912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失败交易仍可能产生费用</a:t>
            </a:r>
          </a:p>
          <a:p xmlns:a="http://schemas.openxmlformats.org/drawingml/2006/main">
            <a:pPr>
              <a:defRPr sz="217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声明金额不能直接当净流出</a:t>
            </a:r>
          </a:p>
          <a:p xmlns:a="http://schemas.openxmlformats.org/drawingml/2006/main">
            <a:pPr>
              <a:defRPr sz="217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历史交易与采集时间容易混淆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31861-E581-4891-A5AD-8BB607EA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10315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用交易、回执和检查点建立可重放的调查记录</a:t>
            </a:r>
          </a:p>
        </p:txBody>
      </p:sp>
    </p:spTree>
    <p:extLst>
      <p:ext uri="{BB962C8B-B14F-4D97-AF65-F5344CB8AC3E}">
        <p14:creationId xmlns:p14="http://schemas.microsoft.com/office/powerpoint/2010/main" val="10688231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b5213f3f04c22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42EED-35D8-4A24-ABD6-DF2318A3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1201400" cy="6038850"/>
          </a:xfrm>
          <a:prstGeom xmlns:a="http://schemas.openxmlformats.org/drawingml/2006/main" prst="roundRect">
            <a:avLst>
              <a:gd name="adj" fmla="val 1262"/>
            </a:avLst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55AA8-3464-41B0-9A1F-A854E8AE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429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调查与证据交付流程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8E7D4-4B49-465A-A001-3C1C4320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38275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rPr>
              <a:t>支持指定交易哈希，也支持当前 finalized 区块前六笔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45D45-F7C4-4D8D-BC1B-E2355AE0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647700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rPr>
              <a:t>江城链察   02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34BEE-5CC4-446B-876A-7FD00968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19240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C1D2D-0116-4643-A15D-1A4A3E22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C64FE-1717-44CD-AA09-6CD69CD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8950"/>
            <a:ext cx="1647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采集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F786C-2C76-4A6B-942F-51E693C9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671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固定公共RPC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26ADE-AB81-42E7-A6A4-D30636FB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76500"/>
            <a:ext cx="19240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3FFC68-07F7-40D8-B4EA-F018EA7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09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10E0EC-8CC0-4623-964C-5078ED11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1647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验收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3C6F6-0EE8-4392-9043-1C73ED5D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671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区块、回执、索引</a:t>
            </a:r>
          </a:p>
        </p:txBody>
      </p:sp>
      <p:cxnSp>
        <p:nvCxnSpPr>
          <p:cNvPr id="45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28925" y="3181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45E87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7757BC-0A84-4072-866C-AD8A2EEE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476500"/>
            <a:ext cx="19240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6B82C-0228-4C55-859B-F84B82D3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09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6694AD-90BC-4327-9B84-C3B4DB4A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647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量化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AB7681-8FFB-49E3-9799-1E0FBAEE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4671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费用、状态、金额</a:t>
            </a:r>
          </a:p>
        </p:txBody>
      </p:sp>
      <p:cxnSp>
        <p:nvCxnSpPr>
          <p:cNvPr id="50" name=""/>
          <p:cNvCxnSpPr>
            <a:stCxn xmlns:a="http://schemas.openxmlformats.org/drawingml/2006/main" id="10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924425" y="3181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45E87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24446-6CAB-422B-9D92-50A60F9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476500"/>
            <a:ext cx="19240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4F784C-8602-4215-BEC1-1EB2F83D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09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EAEC7-5E19-49A7-B352-860EE791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647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解释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4E527D-02C8-42CC-ACA8-4624A690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671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事实与备选解释</a:t>
            </a:r>
          </a:p>
        </p:txBody>
      </p:sp>
      <p:cxnSp>
        <p:nvCxnSpPr>
          <p:cNvPr id="55" name=""/>
          <p:cNvCxnSpPr>
            <a:stCxn xmlns:a="http://schemas.openxmlformats.org/drawingml/2006/main" id="15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019925" y="3181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45E87"/>
            </a:solidFill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D0EAEB-E6D8-470B-ABAF-4D8178A4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476500"/>
            <a:ext cx="19240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3F166-E46B-46CB-99BB-A36843BA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09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0E589E-8F0B-459B-B276-1E2B5898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28950"/>
            <a:ext cx="1647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交付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5B2843-A817-4515-9A1E-DD99829F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67100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时间线与回执</a:t>
            </a:r>
          </a:p>
        </p:txBody>
      </p:sp>
      <p:cxnSp>
        <p:nvCxnSpPr>
          <p:cNvPr id="60" name=""/>
          <p:cNvCxnSpPr>
            <a:stCxn xmlns:a="http://schemas.openxmlformats.org/drawingml/2006/main" id="20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115425" y="3181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45E87"/>
            </a:solidFill>
            <a:tailEnd type="triangle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BB04C8-D822-40C1-92D8-C2AE5545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4481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费用采用整数运算，保留精确的 ETH 结果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CD29D6-3312-4016-97F6-8C2D10E1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076825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执行费 wei = gasUsed × effectiveGasPrice，Blob 费另计。</a:t>
            </a:r>
          </a:p>
          <a:p xmlns:a="http://schemas.openxmlformats.org/drawingml/2006/main">
            <a:pPr>
              <a:defRPr sz="18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合计除以 10¹⁸ 得到 ETH，成功外层值仍不等于账户净流出。</a:t>
            </a:r>
          </a:p>
        </p:txBody>
      </p:sp>
    </p:spTree>
    <p:extLst>
      <p:ext uri="{BB962C8B-B14F-4D97-AF65-F5344CB8AC3E}">
        <p14:creationId xmlns:p14="http://schemas.microsoft.com/office/powerpoint/2010/main" val="8727154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ba3a3a1d04bea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75153-8DD7-4FEC-A354-6BDA8858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1201400" cy="6038850"/>
          </a:xfrm>
          <a:prstGeom xmlns:a="http://schemas.openxmlformats.org/drawingml/2006/main" prst="roundRect">
            <a:avLst>
              <a:gd name="adj" fmla="val 1262"/>
            </a:avLst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43384-9843-4A92-AD92-A53D46FF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429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真实采样与合成演示分别呈现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62D4F-80A8-45ED-83B9-689535A1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38275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rPr>
              <a:t>2026-10-06 10:51:30 UTC，固定 PublicNode 实测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404EB-4A5C-4FE1-BE28-181C0859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647700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rPr>
              <a:t>江城链察   03 / 06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895350" y="2219325"/>
          <a:ext xmlns:a="http://schemas.openxmlformats.org/drawingml/2006/main" cx="10382250" cy="2886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6953250"/>
              </a:tblGrid>
              <a:tr h="57721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真实采样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本次结果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Finalized 区块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26,132,778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交易与规则线索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 笔交易，3 条待复核线索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实际费用合计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0.005028117288007557 ETH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摘要与规则重放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通过，单笔指定哈希也已跑通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62AD8-17C5-49EA-8DF6-33C2938E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514975"/>
            <a:ext cx="10325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合成示例：尝试值 270 ETH，成功外层值 120 ETH，失败值不算转移</a:t>
            </a:r>
          </a:p>
        </p:txBody>
      </p:sp>
    </p:spTree>
    <p:extLst>
      <p:ext uri="{BB962C8B-B14F-4D97-AF65-F5344CB8AC3E}">
        <p14:creationId xmlns:p14="http://schemas.microsoft.com/office/powerpoint/2010/main" val="134354808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b23d20d84a4bf6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F3812-4598-48FD-BD50-32A331F7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1201400" cy="6038850"/>
          </a:xfrm>
          <a:prstGeom xmlns:a="http://schemas.openxmlformats.org/drawingml/2006/main" prst="roundRect">
            <a:avLst>
              <a:gd name="adj" fmla="val 1262"/>
            </a:avLst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BB154-CA8E-489D-80A2-2B5AE874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429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五个岗位与量化技能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ED269-3FD1-4E52-92C0-56E297B9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38275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rPr>
              <a:t>15 项 Skills，5 个确定性岗位，6 条 Harness 规则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DDA9E-F2D6-4F04-B1C1-47744AE8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647700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rPr>
              <a:t>江城链察   04 / 06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895350" y="2133600"/>
          <a:ext xmlns:a="http://schemas.openxmlformats.org/drawingml/2006/main" cx="1038225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52650"/>
                <a:gridCol w="4676775"/>
                <a:gridCol w="3552825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岗位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核心职责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交付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链上采集员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网络与检查点读取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有限采样快照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证据验收员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字段、确认与关联核对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 项验收记录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交易量化员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费用、Gas、转移与调用形状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可复算指标和线索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线索解释员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备选解释和后续核查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假设卡与事实时间线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回执复核员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绑定证据并离线重放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JSON 证据包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73024-04CC-43A6-A220-858042D7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648325"/>
            <a:ext cx="10344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5 个岗位由 Python 工具执行，语言模型研判尚未接入</a:t>
            </a:r>
          </a:p>
        </p:txBody>
      </p:sp>
    </p:spTree>
    <p:extLst>
      <p:ext uri="{BB962C8B-B14F-4D97-AF65-F5344CB8AC3E}">
        <p14:creationId xmlns:p14="http://schemas.microsoft.com/office/powerpoint/2010/main" val="1023192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91bba6995439c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E9693-8727-4102-AC62-E05EE63C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1201400" cy="6038850"/>
          </a:xfrm>
          <a:prstGeom xmlns:a="http://schemas.openxmlformats.org/drawingml/2006/main" prst="roundRect">
            <a:avLst>
              <a:gd name="adj" fmla="val 1262"/>
            </a:avLst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DE1B6-FD8C-43A6-8E39-505E1202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429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验证结果与调查边界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FA816-D3EF-4D02-A6B8-E62CB78A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38275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rPr>
              <a:t>当前后端测试集：43 项通过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F65EF5-8E14-4220-AACF-681EF2A2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647700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rPr>
              <a:t>江城链察   05 / 06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895350" y="2219325"/>
          <a:ext xmlns:a="http://schemas.openxmlformats.org/drawingml/2006/main" cx="1038225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143750"/>
              </a:tblGrid>
              <a:tr h="6096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已验证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范围</a:t>
                      </a:r>
                    </a:p>
                  </a:txBody>
                  <a:tcPr marL="142875" marR="114300" marT="85725" marB="76200" anchor="ctr">
                    <a:solidFill>
                      <a:srgbClr val="245E8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指定哈希与历史交易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拒绝 pending / 未 finalized，接受有效历史证据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金额与费用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精确 Gas / Blob，失败金额不计成功外层转移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篡改与离线重放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重算摘要仍须通过全部派生内容重放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输入与运行限制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A36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固定RPC、最多6笔、快照大小与同源限制</a:t>
                      </a:r>
                    </a:p>
                  </a:txBody>
                  <a:tcPr marL="142875" marR="114300" marT="85725" marB="76200" anchor="ctr"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05FA7-0AB9-4201-B0BC-185DB0FF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648325"/>
            <a:ext cx="10287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单一 RPC 有限采样；不作攻击归因，不代表完整资金追踪</a:t>
            </a:r>
          </a:p>
        </p:txBody>
      </p:sp>
    </p:spTree>
    <p:extLst>
      <p:ext uri="{BB962C8B-B14F-4D97-AF65-F5344CB8AC3E}">
        <p14:creationId xmlns:p14="http://schemas.microsoft.com/office/powerpoint/2010/main" val="6468125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b7a7fbed8b44c0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01EDB-342D-41A3-8E0B-0B7C3D8C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1201400" cy="6038850"/>
          </a:xfrm>
          <a:prstGeom xmlns:a="http://schemas.openxmlformats.org/drawingml/2006/main" prst="roundRect">
            <a:avLst>
              <a:gd name="adj" fmla="val 1262"/>
            </a:avLst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9525">
            <a:solidFill>
              <a:srgbClr val="FFFFFF">
                <a:alpha val="9000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F5775-A7F8-43D4-9B2D-6B077673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429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使用与公共物品复用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5D28B-79D0-442D-8268-1768C2AC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38275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36675"/>
                </a:solidFill>
                <a:latin typeface="Arial Unicode MS"/>
                <a:ea typeface="Arial Unicode MS"/>
                <a:cs typeface="Arial Unicode MS"/>
              </a:rPr>
              <a:t>交易证据与可执行复核规则供他人继续集成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69A401-0139-41A9-9FAF-2EAAB2CB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647700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9FCFF"/>
                </a:solidFill>
                <a:latin typeface="Arial Unicode MS"/>
                <a:ea typeface="Arial Unicode MS"/>
                <a:cs typeface="Arial Unicode MS"/>
              </a:rPr>
              <a:t>江城链察   06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7EAEF-05C7-44DD-8CE7-F4372FD6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访问入口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C7B4A-905F-4424-8B96-686DC5A5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60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E87"/>
                </a:solidFill>
                <a:latin typeface="Arial Unicode MS"/>
                <a:ea typeface="Arial Unicode MS"/>
                <a:cs typeface="Arial Unicode MS"/>
              </a:rPr>
              <a:t>https://wutiantian.cn/eth-investigator/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D3E13-7B5F-463B-B3EE-8B40EC3B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762375"/>
            <a:ext cx="102870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输入交易哈希或读取当前样本，查看指标和假设</a:t>
            </a:r>
          </a:p>
          <a:p xmlns:a="http://schemas.openxmlformats.org/drawingml/2006/main">
            <a:pPr>
              <a:defRPr sz="21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下载完整回执，上传后离线重放验证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6AA79-1CFD-4832-BEC9-68ADE113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038725"/>
            <a:ext cx="990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82A36"/>
                </a:solidFill>
                <a:latin typeface="Arial Unicode MS"/>
                <a:ea typeface="Arial Unicode MS"/>
                <a:cs typeface="Arial Unicode MS"/>
              </a:rPr>
              <a:t>可复用交付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4E31F-B4AD-4F7A-AC9C-EB036080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5149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3C4F5D"/>
                </a:solidFill>
                <a:latin typeface="Arial Unicode MS"/>
                <a:ea typeface="Arial Unicode MS"/>
                <a:cs typeface="Arial Unicode MS"/>
              </a:rPr>
              <a:t>API 约定、15 项技能清单、43 项测试、回执 schema 和演示夹具</a:t>
            </a:r>
          </a:p>
        </p:txBody>
      </p:sp>
    </p:spTree>
    <p:extLst>
      <p:ext uri="{BB962C8B-B14F-4D97-AF65-F5344CB8AC3E}">
        <p14:creationId xmlns:p14="http://schemas.microsoft.com/office/powerpoint/2010/main" val="44337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2026-10-06T11:01:31.8110000Z</dcterms:created>
  <dcterms:modified xsi:type="dcterms:W3CDTF">2026-10-06T11:01:31.8110000Z</dcterms:modified>
</coreProperties>
</file>