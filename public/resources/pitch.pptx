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notesSlides/notesSlide1.xml" Type="http://schemas.openxmlformats.org/officeDocument/2006/relationships/notesSlide"/><Relationship Id="rId16" Target="notesSlides/notesSlide2.xml" Type="http://schemas.openxmlformats.org/officeDocument/2006/relationships/notesSlide"/><Relationship Id="rId17" Target="notesSlides/notesSlide3.xml" Type="http://schemas.openxmlformats.org/officeDocument/2006/relationships/notesSlide"/><Relationship Id="rId18" Target="notesSlides/notesSlide4.xml" Type="http://schemas.openxmlformats.org/officeDocument/2006/relationships/notesSlide"/><Relationship Id="rId19" Target="notesSlides/notesSlide5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6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产品设计目标来自交易复核场景，未宣称客户访谈或业务提效测量。来源：server/chain.py、server/catalog.py。金额观察仅适用本次Ethereum样本，不构成投资建议或攻击认定。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量化公式来自server/catalog.py和server/chain.py当前实现。实际fee含执行gas和可能的blob fee。未计算内部调用、退款、代币转移或地址真实主体。指定历史已finalized交易允许查询，时效门槛作用于采集时的finalized检查点。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真实执行来自2026-10-06T10:51:30Z本地工具采集，finalized block 26132778 hash 0x34c2d097c0ed5cefd59d0d262854b6be4c1a4719773dc314f41ec7ff59690d91，6笔均成功、3条规则线索，收集3160ms。单笔指定交易0xfd111867ecbe9ecb0a5cb82e94d977788afd486e065d91a9004acef0db1dc393于10:51:33Z验证，fee 0.003915564468998077 ETH，0线索。此处保存的是工具执行摘要，不冒充已冻结的原始RPC快照。合成示例3笔1失败、尝试270与成功外层120来源demo_fixture，不是链上事实。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来源：server/catalog.py、public/resources/catalog.json及server/chain.py execution_trace。所有阶段确定性执行，按请求触发。Harness约束固定只读来源、网络与关联、时间分层、整数语义、证据重放和有界同源请求。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测试命令：python3 -m unittest discover -s tests -v，2026-10-06当前43项通过。验证不重新读链，不证明未签名快照真实性。无钱包、无链上写入，无公共合约部署。3条线索是规则触发数量，不是3次攻击或资金损失。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目标访问地址为 https://wutiantian.cn/eth-investigator/，实际上线状态以发布记录为准。开源发布范围以项目README为准。该背景复用public/media/titanium-wallpaper.png，为静态材质。PPT正文、表格和流程保持原生可编辑，无WebGL实时折射。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hatGPT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6.xml" Type="http://schemas.openxmlformats.org/officeDocument/2006/relationships/notesSlide"/><Relationship Id="rId4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7812" b="7813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495300" y="361950"/>
            <a:ext cx="11201400" cy="6038850"/>
          </a:xfrm>
          <a:prstGeom prst="roundRect">
            <a:avLst>
              <a:gd name="adj" fmla="val 1262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23925" y="6477000"/>
            <a:ext cx="8096250" cy="238125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9FCFF"/>
                </a:solidFill>
                <a:latin typeface="Arial"/>
                <a:ea typeface="Arial"/>
                <a:cs typeface="Arial"/>
                <a:sym typeface="Arial"/>
              </a:rPr>
              <a:t>江城链察 01 / 06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76300" y="828675"/>
            <a:ext cx="10191750" cy="8572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800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江城链察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04875" y="1838325"/>
            <a:ext cx="10001250" cy="5048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以太坊交易调查与量化证据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14400" y="2809875"/>
            <a:ext cx="2571750" cy="40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25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服务对象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14400" y="3362325"/>
            <a:ext cx="3905250" cy="952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2025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交易复核人员</a:t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2025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链上工具使用者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400675" y="2809875"/>
            <a:ext cx="5857875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100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原始交易还需要量化和解释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410200" y="3429000"/>
            <a:ext cx="5791200" cy="15430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2175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失败交易仍可能产生费用</a:t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2175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声明金额不能直接当净流出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2175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历史交易与采集时间容易混淆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14400" y="5581650"/>
            <a:ext cx="10315575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25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用交易、回执和检查点建立可重放的调查记录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914400" y="5067300"/>
            <a:ext cx="10315575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队名：AI终身合伙人</a:t>
            </a:r>
            <a:r>
              <a:rPr lang="en-US" b="true" i="false" strike="noStrike" u="none" sz="1800">
                <a:solidFill>
                  <a:srgbClr val="182A3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18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成员：陈敏鸿、秦斌、黄焱豪、邵凡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7812" b="7813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495300" y="361950"/>
            <a:ext cx="11201400" cy="6038850"/>
          </a:xfrm>
          <a:prstGeom prst="roundRect">
            <a:avLst>
              <a:gd name="adj" fmla="val 1262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66775" y="742950"/>
            <a:ext cx="10382250" cy="619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3000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调查与证据交付流程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95350" y="1438275"/>
            <a:ext cx="10191750" cy="628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725">
                <a:solidFill>
                  <a:srgbClr val="536675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支持指定交易哈希，也支持当前 finalized 区块前六笔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23925" y="6477000"/>
            <a:ext cx="8096250" cy="238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9FCFF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江城链察   02 / 06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04875" y="2476500"/>
            <a:ext cx="1924050" cy="1409700"/>
          </a:xfrm>
          <a:prstGeom prst="roundRect">
            <a:avLst>
              <a:gd name="adj" fmla="val 5404"/>
            </a:avLst>
          </a:prstGeom>
          <a:solidFill>
            <a:srgbClr val="EAF2F7">
              <a:alpha val="10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47750" y="2609850"/>
            <a:ext cx="1619250" cy="3238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25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01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47750" y="3028950"/>
            <a:ext cx="1647825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25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采集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47750" y="3467100"/>
            <a:ext cx="1638300" cy="4191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425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固定公共RPC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000375" y="2476500"/>
            <a:ext cx="1924050" cy="1409700"/>
          </a:xfrm>
          <a:prstGeom prst="roundRect">
            <a:avLst>
              <a:gd name="adj" fmla="val 5404"/>
            </a:avLst>
          </a:prstGeom>
          <a:solidFill>
            <a:srgbClr val="EAF2F7">
              <a:alpha val="10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143250" y="2609850"/>
            <a:ext cx="1619250" cy="3238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25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02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143250" y="3028950"/>
            <a:ext cx="1647825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25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验收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143250" y="3467100"/>
            <a:ext cx="1638300" cy="4191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425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区块、回执、索引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0" flipH="false" flipV="false">
            <a:off x="2828925" y="3181350"/>
            <a:ext cx="171450" cy="0"/>
          </a:xfrm>
          <a:prstGeom prst="straightConnector1">
            <a:avLst/>
          </a:prstGeom>
          <a:noFill/>
          <a:ln w="12700">
            <a:solidFill>
              <a:srgbClr val="245E87">
                <a:alpha val="100000"/>
              </a:srgbClr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5095875" y="2476500"/>
            <a:ext cx="1924050" cy="1409700"/>
          </a:xfrm>
          <a:prstGeom prst="roundRect">
            <a:avLst>
              <a:gd name="adj" fmla="val 5404"/>
            </a:avLst>
          </a:prstGeom>
          <a:solidFill>
            <a:srgbClr val="EAF2F7">
              <a:alpha val="10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238750" y="2609850"/>
            <a:ext cx="1619250" cy="3238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25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03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5238750" y="3028950"/>
            <a:ext cx="1647825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25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量化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238750" y="3467100"/>
            <a:ext cx="1638300" cy="4191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425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费用、状态、金额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0" flipH="false" flipV="false">
            <a:off x="4924425" y="3181350"/>
            <a:ext cx="171450" cy="0"/>
          </a:xfrm>
          <a:prstGeom prst="straightConnector1">
            <a:avLst/>
          </a:prstGeom>
          <a:noFill/>
          <a:ln w="12700">
            <a:solidFill>
              <a:srgbClr val="245E87">
                <a:alpha val="100000"/>
              </a:srgbClr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7191375" y="2476500"/>
            <a:ext cx="1924050" cy="1409700"/>
          </a:xfrm>
          <a:prstGeom prst="roundRect">
            <a:avLst>
              <a:gd name="adj" fmla="val 5404"/>
            </a:avLst>
          </a:prstGeom>
          <a:solidFill>
            <a:srgbClr val="EAF2F7">
              <a:alpha val="10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334250" y="2609850"/>
            <a:ext cx="1619250" cy="3238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25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04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334250" y="3028950"/>
            <a:ext cx="1647825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25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解释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334250" y="3467100"/>
            <a:ext cx="1638300" cy="4191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425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事实与备选解释</a:t>
            </a:r>
            <a:endParaRPr lang="en-US" sz="1100"/>
          </a:p>
        </p:txBody>
      </p:sp>
      <p:cxnSp>
        <p:nvCxnSpPr>
          <p:cNvPr name="Connector 25" id="25"/>
          <p:cNvCxnSpPr/>
          <p:nvPr/>
        </p:nvCxnSpPr>
        <p:spPr>
          <a:xfrm rot="0" flipH="false" flipV="false">
            <a:off x="7019925" y="3181350"/>
            <a:ext cx="171450" cy="0"/>
          </a:xfrm>
          <a:prstGeom prst="straightConnector1">
            <a:avLst/>
          </a:prstGeom>
          <a:noFill/>
          <a:ln w="12700">
            <a:solidFill>
              <a:srgbClr val="245E87">
                <a:alpha val="100000"/>
              </a:srgbClr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name="AutoShape 26" id="26"/>
          <p:cNvSpPr/>
          <p:nvPr/>
        </p:nvSpPr>
        <p:spPr>
          <a:xfrm rot="0" flipH="false" flipV="false">
            <a:off x="9286875" y="2476500"/>
            <a:ext cx="1924050" cy="1409700"/>
          </a:xfrm>
          <a:prstGeom prst="roundRect">
            <a:avLst>
              <a:gd name="adj" fmla="val 5404"/>
            </a:avLst>
          </a:prstGeom>
          <a:solidFill>
            <a:srgbClr val="EAF2F7">
              <a:alpha val="10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9429750" y="2609850"/>
            <a:ext cx="1619250" cy="3238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25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05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9429750" y="3028950"/>
            <a:ext cx="1647825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25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交付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9429750" y="3467100"/>
            <a:ext cx="1638300" cy="4191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425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时间线与回执</a:t>
            </a:r>
            <a:endParaRPr lang="en-US" sz="1100"/>
          </a:p>
        </p:txBody>
      </p:sp>
      <p:cxnSp>
        <p:nvCxnSpPr>
          <p:cNvPr name="Connector 30" id="30"/>
          <p:cNvCxnSpPr/>
          <p:nvPr/>
        </p:nvCxnSpPr>
        <p:spPr>
          <a:xfrm rot="0" flipH="false" flipV="false">
            <a:off x="9115425" y="3181350"/>
            <a:ext cx="171450" cy="0"/>
          </a:xfrm>
          <a:prstGeom prst="straightConnector1">
            <a:avLst/>
          </a:prstGeom>
          <a:noFill/>
          <a:ln w="12700">
            <a:solidFill>
              <a:srgbClr val="245E87">
                <a:alpha val="100000"/>
              </a:srgbClr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name="AutoShape 31" id="31"/>
          <p:cNvSpPr/>
          <p:nvPr/>
        </p:nvSpPr>
        <p:spPr>
          <a:xfrm rot="0" flipH="false" flipV="false">
            <a:off x="923925" y="4448175"/>
            <a:ext cx="102870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250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费用采用整数运算，保留精确的 ETH 结果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923925" y="5076825"/>
            <a:ext cx="10191750" cy="838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执行费 wei = gasUsed × effectiveGasPrice，Blob 费另计。</a:t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8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合计除以 10¹⁸ 得到 ETH，成功外层值仍不等于账户净流出。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7812" b="7813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495300" y="361950"/>
            <a:ext cx="11201400" cy="6038850"/>
          </a:xfrm>
          <a:prstGeom prst="roundRect">
            <a:avLst>
              <a:gd name="adj" fmla="val 1262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66775" y="742950"/>
            <a:ext cx="10382250" cy="619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3000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真实采样与合成演示分别呈现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95350" y="1438275"/>
            <a:ext cx="10191750" cy="628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725">
                <a:solidFill>
                  <a:srgbClr val="536675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2026-10-06 10:51:30 UTC，固定 PublicNode 实测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23925" y="6477000"/>
            <a:ext cx="8096250" cy="238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9FCFF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江城链察   03 / 06</a:t>
            </a:r>
            <a:endParaRPr lang="en-US" sz="1100"/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895350" y="2219325"/>
          <a:ext cx="10382250" cy="288607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429000"/>
                <a:gridCol w="6953250"/>
              </a:tblGrid>
              <a:tr h="577215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75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真实采样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E8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75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本次结果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E87">
                        <a:alpha val="100000"/>
                      </a:srgbClr>
                    </a:solidFill>
                  </a:tcPr>
                </a:tc>
              </a:tr>
              <a:tr h="577215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75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Finalized 区块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75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26,132,778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</a:tr>
              <a:tr h="577215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75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交易与规则线索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75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6 笔交易，3 条待复核线索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</a:tr>
              <a:tr h="577215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75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实际费用合计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75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0.005028117288007557 ETH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</a:tr>
              <a:tr h="577215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75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摘要与规则重放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75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通过，单笔指定哈希也已跑通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AutoShape 8" id="8"/>
          <p:cNvSpPr/>
          <p:nvPr/>
        </p:nvSpPr>
        <p:spPr>
          <a:xfrm rot="0" flipH="false" flipV="false">
            <a:off x="923925" y="5514975"/>
            <a:ext cx="10325100" cy="6000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25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合成示例：尝试值 270 ETH，成功外层值 120 ETH，失败值不算转移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7812" b="7813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495300" y="361950"/>
            <a:ext cx="11201400" cy="6038850"/>
          </a:xfrm>
          <a:prstGeom prst="roundRect">
            <a:avLst>
              <a:gd name="adj" fmla="val 1262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66775" y="742950"/>
            <a:ext cx="10382250" cy="619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3000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五个岗位与量化技能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95350" y="1438275"/>
            <a:ext cx="10191750" cy="628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725">
                <a:solidFill>
                  <a:srgbClr val="536675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15 项 Skills，5 个确定性岗位，6 条 Harness 规则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23925" y="6477000"/>
            <a:ext cx="8096250" cy="238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9FCFF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江城链察   04 / 06</a:t>
            </a:r>
            <a:endParaRPr lang="en-US" sz="1100"/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895350" y="2133600"/>
          <a:ext cx="10382250" cy="33147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152650"/>
                <a:gridCol w="4676775"/>
                <a:gridCol w="3552825"/>
              </a:tblGrid>
              <a:tr h="55245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岗位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E8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核心职责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E8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交付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E87">
                        <a:alpha val="100000"/>
                      </a:srgbClr>
                    </a:solidFill>
                  </a:tcPr>
                </a:tc>
              </a:tr>
              <a:tr h="55245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链上采集员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网络与检查点读取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有限采样快照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</a:tr>
              <a:tr h="55245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证据验收员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字段、确认与关联核对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4 项验收记录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</a:tr>
              <a:tr h="55245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交易量化员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费用、Gas、转移与调用形状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可复算指标和线索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</a:tr>
              <a:tr h="55245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线索解释员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备选解释和后续核查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假设卡与事实时间线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</a:tr>
              <a:tr h="55245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回执复核员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绑定证据并离线重放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JSON 证据包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AutoShape 8" id="8"/>
          <p:cNvSpPr/>
          <p:nvPr/>
        </p:nvSpPr>
        <p:spPr>
          <a:xfrm rot="0" flipH="false" flipV="false">
            <a:off x="923925" y="5648325"/>
            <a:ext cx="10344150" cy="40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5 个岗位由 Python 工具执行，语言模型研判尚未接入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7812" b="7813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495300" y="361950"/>
            <a:ext cx="11201400" cy="6038850"/>
          </a:xfrm>
          <a:prstGeom prst="roundRect">
            <a:avLst>
              <a:gd name="adj" fmla="val 1262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66775" y="742950"/>
            <a:ext cx="10382250" cy="619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3000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验证结果与调查边界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95350" y="1438275"/>
            <a:ext cx="10191750" cy="628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725">
                <a:solidFill>
                  <a:srgbClr val="536675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当前后端测试集：43 项通过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23925" y="6477000"/>
            <a:ext cx="8096250" cy="238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9FCFF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江城链察   05 / 06</a:t>
            </a:r>
            <a:endParaRPr lang="en-US" sz="1100"/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895350" y="2219325"/>
          <a:ext cx="10382250" cy="3048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238500"/>
                <a:gridCol w="7143750"/>
              </a:tblGrid>
              <a:tr h="6096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725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已验证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E8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725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范围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E87">
                        <a:alpha val="100000"/>
                      </a:srgbClr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725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指定哈希与历史交易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725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拒绝 pending / 未 finalized，接受有效历史证据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725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金额与费用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725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精确 Gas / Blob，失败金额不计成功外层转移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725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篡改与离线重放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725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重算摘要仍须通过全部派生内容重放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725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输入与运行限制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725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固定RPC、最多6笔、快照大小与同源限制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AutoShape 8" id="8"/>
          <p:cNvSpPr/>
          <p:nvPr/>
        </p:nvSpPr>
        <p:spPr>
          <a:xfrm rot="0" flipH="false" flipV="false">
            <a:off x="923925" y="5648325"/>
            <a:ext cx="10287000" cy="4857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75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单一 RPC 有限采样；不作攻击归因，不代表完整资金追踪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7812" b="7813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495300" y="361950"/>
            <a:ext cx="11201400" cy="6038850"/>
          </a:xfrm>
          <a:prstGeom prst="roundRect">
            <a:avLst>
              <a:gd name="adj" fmla="val 1262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66775" y="742950"/>
            <a:ext cx="10382250" cy="619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3000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使用与公共物品复用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95350" y="1438275"/>
            <a:ext cx="10191750" cy="628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725">
                <a:solidFill>
                  <a:srgbClr val="536675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交易证据与可执行复核规则供他人继续集成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23925" y="6477000"/>
            <a:ext cx="8096250" cy="238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9FCFF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江城链察   06 / 06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14400" y="2324100"/>
            <a:ext cx="9906000" cy="438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175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访问入口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14400" y="2886075"/>
            <a:ext cx="102870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175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https://wutiantian.cn/eth-investigator/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23925" y="3762375"/>
            <a:ext cx="10287000" cy="9620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21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输入交易哈希或读取当前样本，查看指标和假设</a:t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21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下载完整回执，上传后离线重放验证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23925" y="5038725"/>
            <a:ext cx="9906000" cy="3714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25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可复用交付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23925" y="5514975"/>
            <a:ext cx="1028700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API 约定、15 项技能清单、43 项测试、回执 schema 和演示夹具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318250"/>
            <a:ext cx="1524000" cy="539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hatGP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